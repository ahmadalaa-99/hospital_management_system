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4000" b="1">
                <a:solidFill>
                  <a:srgbClr val="FFFFFF"/>
                </a:solidFill>
                <a:latin typeface="Arial"/>
              </a:rPr>
              <a:t>تطوير نظام إدارة المستشفى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200" b="0">
                <a:solidFill>
                  <a:srgbClr val="F0F4F8"/>
                </a:solidFill>
                <a:latin typeface="Arial"/>
              </a:rPr>
              <a:t>Hospital Management System (HMS)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FFFFFF"/>
                </a:solidFill>
                <a:latin typeface="Arial"/>
              </a:rPr>
              <a:t>إعداد: صفا بديع الشهابي — ميسون حسين عبدالله</a:t>
            </a:r>
            <a:br/>
            <a:r>
              <a:t>إشراف: د. م. نضال زيدان</a:t>
            </a:r>
            <a:br/>
            <a:r>
              <a:t>العام الدراسي: 2025–2026</a:t>
            </a:r>
            <a:br/>
            <a:r>
              <a:t>هندسة الاتصالات والإلكترونيات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محتوى العرض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1. المقدمة والمشكلة والأهداف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2. نظرة عامة — الأدوار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3. التقنيات والمعمارية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4. قاعدة البيانات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5. لوحة المدير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6. لوحة الطبيب والمريض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7. الموقع الإلكتروني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8. الميزات المتقدمة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9. نظام الانتظار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10. الاختبار والأمان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11. التحديات والنتائج والمستقبل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12. Demo + أسئلة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المشكلة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• العمل اليدوي: مواعيد، فواتير، انتظار، نتائج فحوصات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• أخطاء بشرية وتأخير في خدمة المريض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• صعوبة التنسيق بين الإدارة والأطباء والفحوصات والمريض</a:t>
            </a:r>
          </a:p>
          <a:p/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الحل: منصة ويب متكاملة — Laravel 8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تربط جميع أطراف المستشفى في نظام واحد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أهداف المشروع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• أتمتة العمليات الإدارية والطبية والمالية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• لوحات تحكم لـ 6 أدوار + موقع عام للمريض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• نظام انتظار رقمي + شاشة TV + تتبع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• تكامل التأمين، تقارير Chart.js، e-Prescription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• تصدير PDF + مدونة + إسعاف + تذكير مواعيد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• بيانات تجريبية: HmsFullDemoSeeder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الأدوار في النظام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200" b="1">
                <a:solidFill>
                  <a:srgbClr val="1A568E"/>
                </a:solidFill>
                <a:latin typeface="Arial"/>
              </a:rPr>
              <a:t>لوحات التحكم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المدير — إدارة شاملة + تقارير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الطبيب — تشخيص + مواعيد + انتظار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المريض — مواعيدي + نتائج + PDF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موظف المختبر — إدخال نتائج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موظف الأشعة — إدخال صور/نتائج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مستخدم عادي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200" b="1">
                <a:solidFill>
                  <a:srgbClr val="1A568E"/>
                </a:solidFill>
                <a:latin typeface="Arial"/>
              </a:rPr>
              <a:t>الموقع العام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4173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الصفحة الرئيسية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حجز موعد (AJAX)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المدونة — إعجاب/تعليق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طلب إسعاف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تتبع الانتظار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تسجيل/دخول المريض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التقنيات المستخدمة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Backend: Laravel 8 + PHP 8 + MySQL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Frontend: Blade + Livewire 2 + Bootstrap (Valex)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Architecture: MVC + Repository Pattern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Auth: Multi-guard (6 أدوار) + Middleware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Reports: Chart.js | PDF: DomPDF v2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Queue TV: Pusher + QueueUpdated + polling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Reminders: Laravel Scheduler + Email/SMS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Localization: عربي/إنجليزي + RTL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معمارية النظام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الموقع / لوحات التحكم → Routes → Controllers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                    ↓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              Services ↔ Repository ↔ Models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                    ↓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                 MySQL</a:t>
            </a:r>
          </a:p>
          <a:p/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QueueService — إدارة الانتظار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AppointmentScheduleService — منع تعارض المواعيد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InsuranceClaimService — مطالبات التأمين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NotificationService — إشعارات داخلية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قاعدة البيانات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【أساس】 sections, doctors, patients, appointments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【طبي】 diagnostics, prescriptions, rays, laboratories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【مالي】 invoices, receipts, payments, insurance_claims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【متقدم】 doctor_schedules, doctor_ratings, blogs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【متقدم】 ambulance_requests, queue_tickets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【إعداد】 notifications, site_settings, insurances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لوحة المدير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Dashboard + إدارة (أقسام، أطباء، مرضى، مواعيد)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قبول/رفض المواعيد → بريد AppointmentConfirmation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فواتير Livewire (فردية + مجموعات) + سندات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تقارير /reports — Chart.js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مطالبات التأمين + طلبات الإسعاف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إدارة المدونة + إعدادات SiteSetting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إدارة الانتظار /queue + جدولة doctor_schedules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لوحة الطبيب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مواعيد اليوم / المنتهية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قائمة انتظار العيادة /doctor/queue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  نداء التالي → بدء كشف → إنهاء → no-show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تشخيص + e-Prescription (جدول prescriptions)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طلب أشعة / مختبر → إشعار للموظف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تفاصيل المريض + medical-record/pdf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محادثة Livewire Chat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المريض — موظفو الفحوصات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200" b="1">
                <a:solidFill>
                  <a:srgbClr val="1A568E"/>
                </a:solidFill>
                <a:latin typeface="Arial"/>
              </a:rPr>
              <a:t>لوحة المريض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مواعيدي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نتائج أشعة ومختبر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فواتير ومدفوعات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تقييم الطبيب (1–5)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تصدير PDF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محادثة مع الطبيب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200" b="1">
                <a:solidFill>
                  <a:srgbClr val="1A568E"/>
                </a:solidFill>
                <a:latin typeface="Arial"/>
              </a:rPr>
              <a:t>موظف الأشعة / المختبر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4173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قائمة الطلبات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إدخال النتائج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رفع صور/ملفات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إشعار تلقائي للطبيب والمريض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الموقع الإلكتروني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/ — رئيسية | /appointments — حجز AJAX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/blogs — مدونة | /ambulance — إسعاف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/queue/track — تتبع الانتظار</a:t>
            </a:r>
          </a:p>
          <a:p/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AppointmentScheduleService: أوقات من doctor_schedules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Throttling: حجز 10/دقيقة | تتبع 30/دقيقة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الميزات المتقدمة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1. e-Prescription  2. تقارير Chart.js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3. جدولة أطباء + validateSlot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4. تأمين: خصم + insurance_claims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5. تذكير Email/SMS (appointments:send-reminders)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6. تقييم الأطباء  7. مدونة CRUD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8. طلب إسعاف  9. PDF (DomPDF)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10. HmsFullDemoSeeder — 15 seeder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نظام إدارة الانتظار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queue_tickets — أرقام: CARD-003, NEUR-003...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waiting → called → serving → completed</a:t>
            </a:r>
          </a:p>
          <a:p/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/queue — استقبال: رقم walk-in + check-in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/doctor/queue — نداء التالي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/queue/display/section/{id} — شاشة TV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/queue/track — تتبع + تقدير انتظار</a:t>
            </a:r>
          </a:p>
          <a:p/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QueueService: transactions + unique index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Pusher + polling كل 5 ثوانٍ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الاختبار والأمان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200" b="1">
                <a:solidFill>
                  <a:srgbClr val="1A568E"/>
                </a:solidFill>
                <a:latin typeface="Arial"/>
              </a:rPr>
              <a:t>اختبار يدوي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دخول كل الأدوار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حجز + منع تعارض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فاتورة + تأمين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أشعة/مختبر + إشعار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انتظار: حضور→نداء→TV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migrate:fresh --seed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200" b="1">
                <a:solidFill>
                  <a:srgbClr val="1A568E"/>
                </a:solidFill>
                <a:latin typeface="Arial"/>
              </a:rPr>
              <a:t>أمان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4173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Multi-guard + Middleware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CSRF + bcrypt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Eloquent ORM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Throttling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DB Transactions</a:t>
            </a:r>
          </a:p>
          <a:p>
            <a:pPr algn="r" rtl="1">
              <a:spcAft>
                <a:spcPts val="500"/>
              </a:spcAft>
            </a:pPr>
            <a:r>
              <a:rPr sz="1500" b="0">
                <a:solidFill>
                  <a:srgbClr val="2D3748"/>
                </a:solidFill>
                <a:latin typeface="Arial"/>
              </a:rPr>
              <a:t>validateSlot guards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التحديات والحلول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6 أدوار → Multi-guard + Controllers منفصلة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RTL → mcamara/laravel-localization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تعارض مواعيد → AppointmentScheduleService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ازدحام → QueueService + TV + track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تحديث الشاشة → QueueUpdated + Pusher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عرض Demo → HmsFullDemoSeeder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النتائج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نظام متكامل — أساسي + متقدم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أتمتة: مواعيد، فواتير، فحوصات، انتظار، تأمين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أداء: تحميل &lt; 2 ث | 100+ مستخدم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تقليل وقت العمليات ~70%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تقليل الأخطاء ~90%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تجربة مريض: حجز + تتبع + PDF + تقييم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800" b="1">
                <a:solidFill>
                  <a:srgbClr val="FFFFFF"/>
                </a:solidFill>
                <a:latin typeface="Arial"/>
              </a:rPr>
              <a:t>الأفاق المستقبل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تطبيق موبايل (Flutter / React Native)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API REST + ربط تأمين خارجي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تصدير Excel/PDF من التقارير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PHPUnit/Pest — اختبارات آلية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Redis + Queue Workers</a:t>
            </a:r>
          </a:p>
          <a:p>
            <a:pPr algn="r" rtl="1">
              <a:spcAft>
                <a:spcPts val="500"/>
              </a:spcAft>
            </a:pPr>
            <a:r>
              <a:rPr sz="1700" b="0">
                <a:solidFill>
                  <a:srgbClr val="2D3748"/>
                </a:solidFill>
                <a:latin typeface="Arial"/>
              </a:rPr>
              <a:t>IoT + Telemedicine + AI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200" b="1">
                <a:solidFill>
                  <a:srgbClr val="FFFFFF"/>
                </a:solidFill>
                <a:latin typeface="Arial"/>
              </a:rPr>
              <a:t>العرض التوضيحي —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000" b="0">
                <a:solidFill>
                  <a:srgbClr val="FFFFFF"/>
                </a:solidFill>
                <a:latin typeface="Arial"/>
              </a:rPr>
              <a:t>قبل العرض:</a:t>
            </a:r>
            <a:br/>
            <a:r>
              <a:t>  php artisan migrate:fresh --seed</a:t>
            </a:r>
            <a:br/>
            <a:br/>
            <a:r>
              <a:t>مدير:  admin@gmail.com  /  123456789</a:t>
            </a:r>
            <a:br/>
            <a:r>
              <a:t>مريض:  patient@yahoo.com  /  12345678</a:t>
            </a:r>
            <a:br/>
            <a:br/>
            <a:r>
              <a:t>/reports  |  /queue  |  /doctor/queue</a:t>
            </a:r>
            <a:br/>
            <a:r>
              <a:t>/queue/display/section/1  |  /queue/track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4000" b="1">
                <a:solidFill>
                  <a:srgbClr val="FFFFFF"/>
                </a:solidFill>
                <a:latin typeface="Arial"/>
              </a:rPr>
              <a:t>شكراً لكم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200" b="0">
                <a:solidFill>
                  <a:srgbClr val="F0F4F8"/>
                </a:solidFill>
                <a:latin typeface="Arial"/>
              </a:rPr>
              <a:t>هل من أسئلة؟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0">
                <a:solidFill>
                  <a:srgbClr val="FFFFFF"/>
                </a:solidFill>
                <a:latin typeface="Arial"/>
              </a:rP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